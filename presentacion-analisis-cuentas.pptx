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Titulo. Nombre y una frase. ~10 seg.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problema: 5 a 10 horas al mes por analista revisando cuentas a mano, con 4 tipos de error que se escapan. Usuario: analistas contables senior. ~30 seg.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informe de confiabilidad: numero grande (100%, 12/12, contra datos ficticios), explicacion chica (como se midio), donde falla (ya se probo contra 1 cuenta real de SAP y cuadro al centavo, pero falta ampliar la muestra) y que guardrail se puso (re-test + recalibracion antes de produccion). Nada de promesas, solo lo medido. ~40 seg.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en vivo aca: abrir la URL real, mostrar el semaforo con colores, exportar el Excel limpio. Mencionar que ahora compensa partidas automaticamente. ~50 seg.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guardrails + gobernanza concreta. El nuevo: si una cuenta tiene pocas filas o un patron raro frente al resto del archivo, el tablero lo avisa explicito en vez de sonar igual de seguro que en un caso normal. Lo mas importante: detecta y prioriza, la decision final siempre es del analista humano. ~30 seg.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lamina de costo: $0 por corrida (el dato grande), 10 horas liberadas al mes, payback inmediato porque no hay costo marginal que recuperar — y la revision adentro: esto no incluye el tiempo de desarrollo, que fue parte de un ejercicio de formacion, no un costo facturado. Cerrar agradeciendo y repitiendo de palabra la URL de la app (mdani6010-sys-analisis-inteligente-cuentas-app-4hvlat.streamlit.app) y el repo (github.com/mdani6010-sys/analisis-inteligente-cuentas). Abrir preguntas. ~35 seg.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1C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640080"/>
            <a:ext cx="146304" cy="146304"/>
          </a:xfrm>
          <a:prstGeom prst="ellipse">
            <a:avLst/>
          </a:prstGeom>
          <a:solidFill>
            <a:srgbClr val="00E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EB5E"/>
                </a:solidFill>
                <a:latin typeface="Calibri"/>
              </a:rPr>
              <a:t>PRESENTACION DE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Analisis Inteligente
de Cuentas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605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B9B6CE"/>
                </a:solidFill>
                <a:latin typeface="Calibri"/>
              </a:rPr>
              <a:t>Deteccion automatica de anomalias contables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Maria Daniela Salinas  ·  Analista Contable Senior</a:t>
            </a:r>
          </a:p>
        </p:txBody>
      </p:sp>
      <p:pic>
        <p:nvPicPr>
          <p:cNvPr id="7" name="Picture 6" descr="pluxee-logo-white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355080"/>
            <a:ext cx="868680" cy="246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355080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9B6CE"/>
                </a:solidFill>
                <a:latin typeface="Calibr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100584" cy="100584"/>
          </a:xfrm>
          <a:prstGeom prst="ellipse">
            <a:avLst/>
          </a:prstGeom>
          <a:solidFill>
            <a:srgbClr val="00E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5550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EB5E"/>
                </a:solidFill>
                <a:latin typeface="Calibri"/>
              </a:rPr>
              <a:t>1 · CLARIDAD DEL PROBLEMA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221C46"/>
                </a:solidFill>
                <a:latin typeface="Calibri"/>
              </a:rPr>
              <a:t>Revisar cuentas a mano cuesta caro en tiempo.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0" b="1" i="0">
                <a:solidFill>
                  <a:srgbClr val="00EB5E"/>
                </a:solidFill>
                <a:latin typeface="Calibri"/>
              </a:rPr>
              <a:t>5–10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20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21C46"/>
                </a:solidFill>
                <a:latin typeface="Calibri"/>
              </a:rPr>
              <a:t>horas al mes, por analista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685"/>
                </a:solidFill>
                <a:latin typeface="Calibri"/>
              </a:rPr>
              <a:t>Analistas Contables Senior · Depto. de Contabilidad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4754880"/>
            <a:ext cx="118872" cy="118872"/>
          </a:xfrm>
          <a:prstGeom prst="ellipse">
            <a:avLst/>
          </a:prstGeom>
          <a:solidFill>
            <a:srgbClr val="00E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654296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21C46"/>
                </a:solidFill>
                <a:latin typeface="Calibri"/>
              </a:rPr>
              <a:t>Duplicidades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5138928"/>
            <a:ext cx="118872" cy="118872"/>
          </a:xfrm>
          <a:prstGeom prst="ellipse">
            <a:avLst/>
          </a:prstGeom>
          <a:solidFill>
            <a:srgbClr val="00E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038344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21C46"/>
                </a:solidFill>
                <a:latin typeface="Calibri"/>
              </a:rPr>
              <a:t>Saldos contrarios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5522976"/>
            <a:ext cx="118872" cy="118872"/>
          </a:xfrm>
          <a:prstGeom prst="ellipse">
            <a:avLst/>
          </a:prstGeom>
          <a:solidFill>
            <a:srgbClr val="00E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5422392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21C46"/>
                </a:solidFill>
                <a:latin typeface="Calibri"/>
              </a:rPr>
              <a:t>Partidas antiguas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907024"/>
            <a:ext cx="118872" cy="118872"/>
          </a:xfrm>
          <a:prstGeom prst="ellipse">
            <a:avLst/>
          </a:prstGeom>
          <a:solidFill>
            <a:srgbClr val="00E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5806440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21C46"/>
                </a:solidFill>
                <a:latin typeface="Calibri"/>
              </a:rPr>
              <a:t>Diferencias de cuadratura</a:t>
            </a:r>
          </a:p>
        </p:txBody>
      </p:sp>
      <p:pic>
        <p:nvPicPr>
          <p:cNvPr id="16" name="Picture 15" descr="pluxee-logo-dar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355080"/>
            <a:ext cx="868680" cy="2468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" y="6355080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6685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100584" cy="100584"/>
          </a:xfrm>
          <a:prstGeom prst="ellipse">
            <a:avLst/>
          </a:prstGeom>
          <a:solidFill>
            <a:srgbClr val="00E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5550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EB5E"/>
                </a:solidFill>
                <a:latin typeface="Calibri"/>
              </a:rPr>
              <a:t>2 · EVIDENCIA DE VERIFICACION  ·  INFORME DE CONFIABILIDAD (S19)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221C46"/>
                </a:solidFill>
                <a:latin typeface="Calibri"/>
              </a:rPr>
              <a:t>¿Le creeria yo este numero sin conocerme?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0" b="1" i="0">
                <a:solidFill>
                  <a:srgbClr val="00EB5E"/>
                </a:solidFill>
                <a:latin typeface="Calibri"/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3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21C46"/>
                </a:solidFill>
                <a:latin typeface="Calibri"/>
              </a:rPr>
              <a:t>12 de 12 cuentas, evaluacion ciega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6B6685"/>
                </a:solidFill>
                <a:latin typeface="Calibri"/>
              </a:rPr>
              <a:t>test_deteccion.py — corre primero, recien despues compara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874519"/>
            <a:ext cx="5513832" cy="4114800"/>
          </a:xfrm>
          <a:prstGeom prst="roundRect">
            <a:avLst>
              <a:gd name="adj" fmla="val 6000"/>
            </a:avLst>
          </a:prstGeom>
          <a:solidFill>
            <a:srgbClr val="F4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1488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1C46"/>
                </a:solidFill>
                <a:latin typeface="Calibri"/>
              </a:rPr>
              <a:t>DONDE FALLA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514600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B6685"/>
                </a:solidFill>
                <a:latin typeface="Calibri"/>
              </a:rPr>
              <a:t>Probado con 1 cuenta real (SAP): cuadro al centavo con el F.01. Falta ampliar la muestra y recalibrar umbrales.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70332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1C46"/>
                </a:solidFill>
                <a:latin typeface="Calibri"/>
              </a:rPr>
              <a:t>QUE GUARDRAIL SE PUSO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06908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B6685"/>
                </a:solidFill>
                <a:latin typeface="Calibri"/>
              </a:rPr>
              <a:t>El test se vuelve a correr despues de cada cambio a la logica. Los umbrales se recalibran con datos reales antes de usarlo en produccion.</a:t>
            </a:r>
          </a:p>
        </p:txBody>
      </p:sp>
      <p:pic>
        <p:nvPicPr>
          <p:cNvPr id="13" name="Picture 12" descr="pluxee-logo-dar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355080"/>
            <a:ext cx="868680" cy="2468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355080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6685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100584" cy="100584"/>
          </a:xfrm>
          <a:prstGeom prst="ellipse">
            <a:avLst/>
          </a:prstGeom>
          <a:solidFill>
            <a:srgbClr val="00E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5550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EB5E"/>
                </a:solidFill>
                <a:latin typeface="Calibri"/>
              </a:rPr>
              <a:t>3 · FUNCIONAMIENTO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221C46"/>
                </a:solidFill>
                <a:latin typeface="Calibri"/>
              </a:rPr>
              <a:t>Sube el archivo. El semaforo hace el resto.</a:t>
            </a:r>
          </a:p>
        </p:txBody>
      </p:sp>
      <p:pic>
        <p:nvPicPr>
          <p:cNvPr id="5" name="Picture 4" descr="app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8059646" cy="4160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1600200"/>
            <a:ext cx="8059646" cy="4160520"/>
          </a:xfrm>
          <a:prstGeom prst="rect">
            <a:avLst/>
          </a:prstGeom>
          <a:noFill/>
          <a:ln w="15875">
            <a:solidFill>
              <a:srgbClr val="221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65486" y="1600200"/>
            <a:ext cx="248612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EB5E"/>
                </a:solidFill>
                <a:latin typeface="Calibri"/>
              </a:rPr>
              <a:t>LO NUEVO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65486" y="2057400"/>
            <a:ext cx="248612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0EB5E"/>
                </a:solidFill>
                <a:latin typeface="Calibri"/>
              </a:rPr>
              <a:t>• </a:t>
            </a:r>
            <a:r>
              <a:rPr sz="1300" b="0" i="0">
                <a:solidFill>
                  <a:srgbClr val="221C46"/>
                </a:solidFill>
                <a:latin typeface="Calibri"/>
              </a:rPr>
              <a:t>Excel limpio: compensa partidas de igual monto y signo contrario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65486" y="2926080"/>
            <a:ext cx="248612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0EB5E"/>
                </a:solidFill>
                <a:latin typeface="Calibri"/>
              </a:rPr>
              <a:t>• </a:t>
            </a:r>
            <a:r>
              <a:rPr sz="1300" b="0" i="0">
                <a:solidFill>
                  <a:srgbClr val="221C46"/>
                </a:solidFill>
                <a:latin typeface="Calibri"/>
              </a:rPr>
              <a:t>Nada se borra: queda trazable en Partidas_Compensadas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65486" y="3794760"/>
            <a:ext cx="248612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0EB5E"/>
                </a:solidFill>
                <a:latin typeface="Calibri"/>
              </a:rPr>
              <a:t>• </a:t>
            </a:r>
            <a:r>
              <a:rPr sz="1300" b="0" i="0">
                <a:solidFill>
                  <a:srgbClr val="221C46"/>
                </a:solidFill>
                <a:latin typeface="Calibri"/>
              </a:rPr>
              <a:t>Columnas nuevas: antiguedad en dias y monto duplicado</a:t>
            </a:r>
          </a:p>
        </p:txBody>
      </p:sp>
      <p:pic>
        <p:nvPicPr>
          <p:cNvPr id="11" name="Picture 10" descr="pluxee-logo-dark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6355080"/>
            <a:ext cx="868680" cy="246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355080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6685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1C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100584" cy="100584"/>
          </a:xfrm>
          <a:prstGeom prst="ellipse">
            <a:avLst/>
          </a:prstGeom>
          <a:solidFill>
            <a:srgbClr val="00E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5550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EB5E"/>
                </a:solidFill>
                <a:latin typeface="Calibri"/>
              </a:rPr>
              <a:t>4 · COMO MANEJASTE EL RIESGO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El sistema detecta. Nunca decide.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148840"/>
            <a:ext cx="118872" cy="118872"/>
          </a:xfrm>
          <a:prstGeom prst="ellipse">
            <a:avLst/>
          </a:prstGeom>
          <a:solidFill>
            <a:srgbClr val="00E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48256"/>
            <a:ext cx="4864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No inventa: reglas fijas, no IA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79192"/>
            <a:ext cx="118872" cy="118872"/>
          </a:xfrm>
          <a:prstGeom prst="ellipse">
            <a:avLst/>
          </a:prstGeom>
          <a:solidFill>
            <a:srgbClr val="00E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78608"/>
            <a:ext cx="4864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Avisa si el caso es atipico o chico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209544"/>
            <a:ext cx="118872" cy="118872"/>
          </a:xfrm>
          <a:prstGeom prst="ellipse">
            <a:avLst/>
          </a:prstGeom>
          <a:solidFill>
            <a:srgbClr val="00E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108960"/>
            <a:ext cx="4864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Trazable al umbral exacto</a:t>
            </a:r>
          </a:p>
        </p:txBody>
      </p:sp>
      <p:sp>
        <p:nvSpPr>
          <p:cNvPr id="11" name="Oval 10"/>
          <p:cNvSpPr/>
          <p:nvPr/>
        </p:nvSpPr>
        <p:spPr>
          <a:xfrm>
            <a:off x="6309360" y="2148840"/>
            <a:ext cx="118872" cy="118872"/>
          </a:xfrm>
          <a:prstGeom prst="ellipse">
            <a:avLst/>
          </a:prstGeom>
          <a:solidFill>
            <a:srgbClr val="00E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048256"/>
            <a:ext cx="4864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Acceso con clave — 3 analistas</a:t>
            </a:r>
          </a:p>
        </p:txBody>
      </p:sp>
      <p:sp>
        <p:nvSpPr>
          <p:cNvPr id="13" name="Oval 12"/>
          <p:cNvSpPr/>
          <p:nvPr/>
        </p:nvSpPr>
        <p:spPr>
          <a:xfrm>
            <a:off x="6309360" y="2679192"/>
            <a:ext cx="118872" cy="118872"/>
          </a:xfrm>
          <a:prstGeom prst="ellipse">
            <a:avLst/>
          </a:prstGeom>
          <a:solidFill>
            <a:srgbClr val="00E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578608"/>
            <a:ext cx="4864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Brecha declarada, no oculta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3209544"/>
            <a:ext cx="118872" cy="118872"/>
          </a:xfrm>
          <a:prstGeom prst="ellipse">
            <a:avLst/>
          </a:prstGeom>
          <a:solidFill>
            <a:srgbClr val="00E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3108960"/>
            <a:ext cx="4864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Dueña: Maria Daniela Salinas</a:t>
            </a:r>
          </a:p>
        </p:txBody>
      </p:sp>
      <p:pic>
        <p:nvPicPr>
          <p:cNvPr id="17" name="Picture 16" descr="pluxee-logo-white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355080"/>
            <a:ext cx="868680" cy="2468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6355080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9B6CE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100584" cy="100584"/>
          </a:xfrm>
          <a:prstGeom prst="ellipse">
            <a:avLst/>
          </a:prstGeom>
          <a:solidFill>
            <a:srgbClr val="00E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5550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EB5E"/>
                </a:solidFill>
                <a:latin typeface="Calibri"/>
              </a:rPr>
              <a:t>5 · NIVEL DE AMBICION  ·  CASO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21C46"/>
                </a:solidFill>
                <a:latin typeface="Calibri"/>
              </a:rPr>
              <a:t>El costo real de cada corrida.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0" b="1" i="0">
                <a:solidFill>
                  <a:srgbClr val="00EB5E"/>
                </a:solidFill>
                <a:latin typeface="Calibri"/>
              </a:rPr>
              <a:t>$0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3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21C46"/>
                </a:solidFill>
                <a:latin typeface="Calibri"/>
              </a:rPr>
              <a:t>por corrida — reglas fijas, sin IA de pago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874519"/>
            <a:ext cx="5513832" cy="3749039"/>
          </a:xfrm>
          <a:prstGeom prst="roundRect">
            <a:avLst>
              <a:gd name="adj" fmla="val 6000"/>
            </a:avLst>
          </a:prstGeom>
          <a:solidFill>
            <a:srgbClr val="F4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1488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1C46"/>
                </a:solidFill>
                <a:latin typeface="Calibri"/>
              </a:rPr>
              <a:t>HORAS LIBERADAS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51460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B6685"/>
                </a:solidFill>
                <a:latin typeface="Calibri"/>
              </a:rPr>
              <a:t>~10 horas al mes, por analista (estimado, aun no medido con un piloto real).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3375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1C46"/>
                </a:solidFill>
                <a:latin typeface="Calibri"/>
              </a:rPr>
              <a:t>PAYBACK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70332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B6685"/>
                </a:solidFill>
                <a:latin typeface="Calibri"/>
              </a:rPr>
              <a:t>Inmediato: costo marginal cero, no hay inversion recurrente que recuperar.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4348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1C46"/>
                </a:solidFill>
                <a:latin typeface="Calibri"/>
              </a:rPr>
              <a:t>LA REVISION (adentro)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80060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B6685"/>
                </a:solidFill>
                <a:latin typeface="Calibri"/>
              </a:rPr>
              <a:t>No incluye el tiempo de desarrollo — se hizo como ejercicio de formacion, no facturado.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97228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6B6685"/>
                </a:solidFill>
                <a:latin typeface="Calibri"/>
              </a:rPr>
              <a:t>Ya hecho: codigo en GitHub, app publica 24/7. Proximo paso: piloto real de 2 meses.</a:t>
            </a:r>
          </a:p>
        </p:txBody>
      </p:sp>
      <p:pic>
        <p:nvPicPr>
          <p:cNvPr id="15" name="Picture 14" descr="pluxee-logo-dark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355080"/>
            <a:ext cx="868680" cy="2468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6355080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6685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